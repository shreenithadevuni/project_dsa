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1"/>
  </p:notesMasterIdLst>
  <p:handoutMasterIdLst>
    <p:handoutMasterId r:id="rId22"/>
  </p:handoutMasterIdLst>
  <p:sldIdLst>
    <p:sldId id="314" r:id="rId3"/>
    <p:sldId id="322" r:id="rId4"/>
    <p:sldId id="323" r:id="rId5"/>
    <p:sldId id="349" r:id="rId6"/>
    <p:sldId id="266" r:id="rId7"/>
    <p:sldId id="341" r:id="rId8"/>
    <p:sldId id="342" r:id="rId9"/>
    <p:sldId id="343" r:id="rId10"/>
    <p:sldId id="350" r:id="rId11"/>
    <p:sldId id="344" r:id="rId12"/>
    <p:sldId id="345" r:id="rId13"/>
    <p:sldId id="351" r:id="rId14"/>
    <p:sldId id="340" r:id="rId15"/>
    <p:sldId id="352" r:id="rId16"/>
    <p:sldId id="353" r:id="rId17"/>
    <p:sldId id="347" r:id="rId18"/>
    <p:sldId id="348" r:id="rId19"/>
    <p:sldId id="33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79" d="100"/>
          <a:sy n="79" d="100"/>
        </p:scale>
        <p:origin x="562"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TITLE:MULTI - STORE GROCERY PRICE COMPARISION SYSTEM</a:t>
            </a:r>
            <a:br>
              <a:rPr lang="en-US" sz="2400" dirty="0">
                <a:solidFill>
                  <a:srgbClr val="0070C0"/>
                </a:solidFill>
                <a:latin typeface="+mn-lt"/>
                <a:cs typeface="Arial" panose="020B0604020202020204" pitchFamily="34" charset="0"/>
              </a:rPr>
            </a:b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Shreenitha</a:t>
            </a:r>
          </a:p>
          <a:p>
            <a:pPr marL="0" indent="0" algn="ctr">
              <a:buNone/>
            </a:pPr>
            <a:r>
              <a:rPr lang="en-US" sz="9600" dirty="0"/>
              <a:t>Student ID: 2520030504</a:t>
            </a:r>
            <a:endParaRPr lang="en-US" sz="2400" dirty="0"/>
          </a:p>
          <a:p>
            <a:pPr marL="0" indent="0" algn="ctr">
              <a:buNone/>
            </a:pPr>
            <a:r>
              <a:rPr lang="en-US" sz="11200" dirty="0"/>
              <a:t>Cluster:4</a:t>
            </a:r>
          </a:p>
          <a:p>
            <a:pPr marL="0" indent="0" algn="ctr">
              <a:buNone/>
            </a:pPr>
            <a:r>
              <a:rPr lang="en-US" sz="11200" dirty="0"/>
              <a:t>Section: 14</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Sreeram Murthy</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Grocery Compare</a:t>
            </a:r>
            <a:r>
              <a:rPr lang="en-US" dirty="0">
                <a:latin typeface="Times New Roman" panose="02020603050405020304" pitchFamily="18" charset="0"/>
                <a:cs typeface="Times New Roman" panose="02020603050405020304" pitchFamily="18" charset="0"/>
              </a:rPr>
              <a:t> project is a web-based application designed to help users compare grocery prices across multiple nearby stores and select the most affordable option. The system displays a variety of grocery products along with their prices from different stores, allowing users to easily identify the best deals. Products are organized into categories such as vegetables, fruits, grains, dairy, and other daily essentials to make browsing simple and efficient.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5FD1D-563E-3B1B-29E0-C4A055A0DD66}"/>
              </a:ext>
            </a:extLst>
          </p:cNvPr>
          <p:cNvSpPr>
            <a:spLocks noGrp="1"/>
          </p:cNvSpPr>
          <p:nvPr>
            <p:ph type="title"/>
          </p:nvPr>
        </p:nvSpPr>
        <p:spPr/>
        <p:txBody>
          <a:bodyPr/>
          <a:lstStyle/>
          <a:p>
            <a:br>
              <a:rPr lang="en-IN" dirty="0"/>
            </a:br>
            <a:endParaRPr lang="en-IN" dirty="0"/>
          </a:p>
        </p:txBody>
      </p:sp>
      <p:sp>
        <p:nvSpPr>
          <p:cNvPr id="3" name="Content Placeholder 2">
            <a:extLst>
              <a:ext uri="{FF2B5EF4-FFF2-40B4-BE49-F238E27FC236}">
                <a16:creationId xmlns:a16="http://schemas.microsoft.com/office/drawing/2014/main" id="{A7A41607-FE39-62CC-8E74-3AA935FDFBA6}"/>
              </a:ext>
            </a:extLst>
          </p:cNvPr>
          <p:cNvSpPr>
            <a:spLocks noGrp="1"/>
          </p:cNvSpPr>
          <p:nvPr>
            <p:ph idx="1"/>
          </p:nvPr>
        </p:nvSpPr>
        <p:spPr>
          <a:xfrm>
            <a:off x="398834" y="1264596"/>
            <a:ext cx="10954966" cy="4912367"/>
          </a:xfrm>
        </p:spPr>
        <p:txBody>
          <a:bodyPr>
            <a:normAutofit/>
          </a:bodyPr>
          <a:lstStyle/>
          <a:p>
            <a:r>
              <a:rPr lang="en-US" dirty="0"/>
              <a:t>The main objective of this project is to simplify grocery shopping using </a:t>
            </a:r>
            <a:r>
              <a:rPr lang="en-US" b="1" dirty="0"/>
              <a:t>data structures and algorithms</a:t>
            </a:r>
            <a:r>
              <a:rPr lang="en-US" dirty="0"/>
              <a:t> for efficient price comparison. In this system, </a:t>
            </a:r>
            <a:r>
              <a:rPr lang="en-US" b="1" dirty="0"/>
              <a:t>arrays and objects</a:t>
            </a:r>
            <a:r>
              <a:rPr lang="en-US" dirty="0"/>
              <a:t> are used to store product details, while </a:t>
            </a:r>
            <a:r>
              <a:rPr lang="en-US" b="1" dirty="0"/>
              <a:t>searching and filtering techniques</a:t>
            </a:r>
            <a:r>
              <a:rPr lang="en-US" dirty="0"/>
              <a:t> help users find items quickly. </a:t>
            </a:r>
            <a:r>
              <a:rPr lang="en-US"/>
              <a:t>The project also manages cart operations and total price calculation using algorithmic logic, demonstrating how DSA concepts can be applied to build an efficient grocery price comparison system.</a:t>
            </a:r>
          </a:p>
        </p:txBody>
      </p:sp>
      <p:sp>
        <p:nvSpPr>
          <p:cNvPr id="4" name="Date Placeholder 3">
            <a:extLst>
              <a:ext uri="{FF2B5EF4-FFF2-40B4-BE49-F238E27FC236}">
                <a16:creationId xmlns:a16="http://schemas.microsoft.com/office/drawing/2014/main" id="{744436A7-73C7-87FC-9EC6-B472BCD6136F}"/>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556A3602-F51C-9D6F-4E5E-464FB2C5DA5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2E2F4220-2EF8-206E-1ACF-1A7EFC8B6B0C}"/>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908948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2" name="Content Placeholder 1">
            <a:extLst>
              <a:ext uri="{FF2B5EF4-FFF2-40B4-BE49-F238E27FC236}">
                <a16:creationId xmlns:a16="http://schemas.microsoft.com/office/drawing/2014/main" id="{D42A7D20-3324-B7FA-EB4A-697CD0D1FB2C}"/>
              </a:ext>
            </a:extLst>
          </p:cNvPr>
          <p:cNvSpPr>
            <a:spLocks noGrp="1" noChangeArrowheads="1"/>
          </p:cNvSpPr>
          <p:nvPr>
            <p:ph idx="1"/>
          </p:nvPr>
        </p:nvSpPr>
        <p:spPr bwMode="auto">
          <a:xfrm>
            <a:off x="556426" y="2223885"/>
            <a:ext cx="10523377"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sz="2500" dirty="0">
                <a:latin typeface="Times New Roman" panose="02020603050405020304" pitchFamily="18" charset="0"/>
                <a:cs typeface="Times New Roman" panose="02020603050405020304" pitchFamily="18" charset="0"/>
              </a:rPr>
              <a:t>Customers usually visit multiple grocery stores physically to compare prices.</a:t>
            </a:r>
          </a:p>
          <a:p>
            <a:pPr marL="0" lvl="0" indent="0" eaLnBrk="0" fontAlgn="base" hangingPunct="0">
              <a:lnSpc>
                <a:spcPct val="100000"/>
              </a:lnSpc>
              <a:spcBef>
                <a:spcPct val="0"/>
              </a:spcBef>
              <a:spcAft>
                <a:spcPct val="0"/>
              </a:spcAft>
              <a:buFontTx/>
              <a:buChar char="•"/>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no single platform to view prices of the same product from different nearby stores.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Price comparison takes more time and effort for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may buy products at higher prices due to lack of price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Managing shopping lists and calculating total cost manually can be inconvenient.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local stores do not provide digital platforms for easy product comparison.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500" dirty="0">
                <a:latin typeface="Times New Roman" panose="02020603050405020304" pitchFamily="18" charset="0"/>
                <a:cs typeface="Times New Roman" panose="02020603050405020304" pitchFamily="18" charset="0"/>
              </a:rPr>
              <a:t>No easy way to compare multiple store prices simultaneously</a:t>
            </a:r>
            <a:r>
              <a:rPr lang="en-US" altLang="en-US" sz="2400" dirty="0">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2" name="Content Placeholder 1">
            <a:extLst>
              <a:ext uri="{FF2B5EF4-FFF2-40B4-BE49-F238E27FC236}">
                <a16:creationId xmlns:a16="http://schemas.microsoft.com/office/drawing/2014/main" id="{03913547-A122-D355-B7D7-0078672A24DE}"/>
              </a:ext>
            </a:extLst>
          </p:cNvPr>
          <p:cNvSpPr>
            <a:spLocks noGrp="1" noChangeArrowheads="1"/>
          </p:cNvSpPr>
          <p:nvPr>
            <p:ph idx="1"/>
          </p:nvPr>
        </p:nvSpPr>
        <p:spPr bwMode="auto">
          <a:xfrm>
            <a:off x="486384" y="2031524"/>
            <a:ext cx="11271608"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Grocery Compare system provides a platform to compare prices of grocery items from multiple nearby stores.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view different products along with prices from various stores in one place.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allows users to select the cheapest or preferred store for each product.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add items to a cart and view the total cost before purchasing.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application supports product search, category filtering, and easy navigation.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place orders and choose payment methods such as UPI, card, or cash on delivery.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helps customers save time and money by providing transparent price comparison.</a:t>
            </a:r>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normAutofit fontScale="90000"/>
          </a:bodyPr>
          <a:lstStyle/>
          <a:p>
            <a:pPr algn="ctr"/>
            <a:br>
              <a:rPr lang="en-US" b="1" dirty="0"/>
            </a:br>
            <a:endParaRPr lang="en-US" b="1" dirty="0"/>
          </a:p>
        </p:txBody>
      </p:sp>
      <p:pic>
        <p:nvPicPr>
          <p:cNvPr id="3" name="Content Placeholder 2">
            <a:extLst>
              <a:ext uri="{FF2B5EF4-FFF2-40B4-BE49-F238E27FC236}">
                <a16:creationId xmlns:a16="http://schemas.microsoft.com/office/drawing/2014/main" id="{1880E69A-FBBF-FB92-A254-4F753E76C43E}"/>
              </a:ext>
            </a:extLst>
          </p:cNvPr>
          <p:cNvPicPr>
            <a:picLocks noGrp="1" noChangeAspect="1"/>
          </p:cNvPicPr>
          <p:nvPr>
            <p:ph idx="1"/>
          </p:nvPr>
        </p:nvPicPr>
        <p:blipFill>
          <a:blip r:embed="rId2"/>
          <a:stretch>
            <a:fillRect/>
          </a:stretch>
        </p:blipFill>
        <p:spPr>
          <a:xfrm>
            <a:off x="389106" y="875489"/>
            <a:ext cx="11206264" cy="5480861"/>
          </a:xfrm>
          <a:prstGeom prst="rect">
            <a:avLst/>
          </a:prstGeo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fontScale="92500"/>
          </a:bodyPr>
          <a:lstStyle/>
          <a:p>
            <a:pPr marL="0" indent="0">
              <a:buNone/>
            </a:pPr>
            <a:r>
              <a:rPr lang="en-US" sz="2700" b="1" dirty="0">
                <a:latin typeface="Times New Roman" panose="02020603050405020304" pitchFamily="18" charset="0"/>
                <a:cs typeface="Times New Roman" panose="02020603050405020304" pitchFamily="18" charset="0"/>
              </a:rPr>
              <a:t>1.User Registration and Login Module</a:t>
            </a:r>
          </a:p>
          <a:p>
            <a:r>
              <a:rPr lang="en-US" sz="2700" dirty="0">
                <a:latin typeface="Times New Roman" panose="02020603050405020304" pitchFamily="18" charset="0"/>
                <a:cs typeface="Times New Roman" panose="02020603050405020304" pitchFamily="18" charset="0"/>
              </a:rPr>
              <a:t>Allows users to create an account and log in to the system.</a:t>
            </a:r>
          </a:p>
          <a:p>
            <a:r>
              <a:rPr lang="en-US" sz="2700" dirty="0">
                <a:latin typeface="Times New Roman" panose="02020603050405020304" pitchFamily="18" charset="0"/>
                <a:cs typeface="Times New Roman" panose="02020603050405020304" pitchFamily="18" charset="0"/>
              </a:rPr>
              <a:t>Stores user details securely in the database.</a:t>
            </a:r>
          </a:p>
          <a:p>
            <a:pPr marL="0" indent="0">
              <a:buNone/>
            </a:pPr>
            <a:r>
              <a:rPr lang="en-US" sz="2700" b="1" dirty="0">
                <a:latin typeface="Times New Roman" panose="02020603050405020304" pitchFamily="18" charset="0"/>
                <a:cs typeface="Times New Roman" panose="02020603050405020304" pitchFamily="18" charset="0"/>
              </a:rPr>
              <a:t>2. Product Management Module</a:t>
            </a:r>
          </a:p>
          <a:p>
            <a:r>
              <a:rPr lang="en-US" sz="2700" dirty="0">
                <a:latin typeface="Times New Roman" panose="02020603050405020304" pitchFamily="18" charset="0"/>
                <a:cs typeface="Times New Roman" panose="02020603050405020304" pitchFamily="18" charset="0"/>
              </a:rPr>
              <a:t>Displays different grocery items available in the system.</a:t>
            </a:r>
          </a:p>
          <a:p>
            <a:r>
              <a:rPr lang="en-US" sz="2700" dirty="0">
                <a:latin typeface="Times New Roman" panose="02020603050405020304" pitchFamily="18" charset="0"/>
                <a:cs typeface="Times New Roman" panose="02020603050405020304" pitchFamily="18" charset="0"/>
              </a:rPr>
              <a:t>Organizes products into categories like fruits, vegetables, dairy, and grains.</a:t>
            </a:r>
          </a:p>
          <a:p>
            <a:pPr marL="0" indent="0">
              <a:buNone/>
            </a:pPr>
            <a:r>
              <a:rPr lang="en-US" sz="2700" b="1" dirty="0">
                <a:latin typeface="Times New Roman" panose="02020603050405020304" pitchFamily="18" charset="0"/>
                <a:cs typeface="Times New Roman" panose="02020603050405020304" pitchFamily="18" charset="0"/>
              </a:rPr>
              <a:t>3. Store Management Module</a:t>
            </a:r>
          </a:p>
          <a:p>
            <a:r>
              <a:rPr lang="en-US" sz="2700" dirty="0">
                <a:latin typeface="Times New Roman" panose="02020603050405020304" pitchFamily="18" charset="0"/>
                <a:cs typeface="Times New Roman" panose="02020603050405020304" pitchFamily="18" charset="0"/>
              </a:rPr>
              <a:t>Stores information about different grocery stores.</a:t>
            </a:r>
          </a:p>
          <a:p>
            <a:r>
              <a:rPr lang="en-US" sz="2700" dirty="0">
                <a:latin typeface="Times New Roman" panose="02020603050405020304" pitchFamily="18" charset="0"/>
                <a:cs typeface="Times New Roman" panose="02020603050405020304" pitchFamily="18" charset="0"/>
              </a:rPr>
              <a:t>Maintains product prices and availability for each store.</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12DFB-6785-DDA7-110C-548DF91B15AF}"/>
              </a:ext>
            </a:extLst>
          </p:cNvPr>
          <p:cNvSpPr>
            <a:spLocks noGrp="1"/>
          </p:cNvSpPr>
          <p:nvPr>
            <p:ph type="title"/>
          </p:nvPr>
        </p:nvSpPr>
        <p:spPr/>
        <p:txBody>
          <a:bodyPr>
            <a:normAutofit fontScale="90000"/>
          </a:bodyPr>
          <a:lstStyle/>
          <a:p>
            <a:br>
              <a:rPr lang="en-IN" dirty="0"/>
            </a:br>
            <a:br>
              <a:rPr lang="en-IN" dirty="0"/>
            </a:br>
            <a:br>
              <a:rPr lang="en-IN" dirty="0"/>
            </a:br>
            <a:br>
              <a:rPr lang="en-IN" dirty="0"/>
            </a:br>
            <a:br>
              <a:rPr lang="en-IN" dirty="0"/>
            </a:br>
            <a:endParaRPr lang="en-IN" dirty="0"/>
          </a:p>
        </p:txBody>
      </p:sp>
      <p:sp>
        <p:nvSpPr>
          <p:cNvPr id="3" name="Content Placeholder 2">
            <a:extLst>
              <a:ext uri="{FF2B5EF4-FFF2-40B4-BE49-F238E27FC236}">
                <a16:creationId xmlns:a16="http://schemas.microsoft.com/office/drawing/2014/main" id="{5BF0D9B0-C3DB-E505-7500-E2D4BE1BDB51}"/>
              </a:ext>
            </a:extLst>
          </p:cNvPr>
          <p:cNvSpPr>
            <a:spLocks noGrp="1"/>
          </p:cNvSpPr>
          <p:nvPr>
            <p:ph idx="1"/>
          </p:nvPr>
        </p:nvSpPr>
        <p:spPr>
          <a:xfrm>
            <a:off x="645459" y="0"/>
            <a:ext cx="11277600" cy="6356350"/>
          </a:xfrm>
        </p:spPr>
        <p:txBody>
          <a:bodyPr>
            <a:normAutofit/>
          </a:bodyPr>
          <a:lstStyle/>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2500" b="1" dirty="0">
                <a:latin typeface="Times New Roman" panose="02020603050405020304" pitchFamily="18" charset="0"/>
                <a:cs typeface="Times New Roman" panose="02020603050405020304" pitchFamily="18" charset="0"/>
              </a:rPr>
              <a:t>4. Price Comparison Module</a:t>
            </a:r>
          </a:p>
          <a:p>
            <a:r>
              <a:rPr lang="en-US" sz="2500" dirty="0">
                <a:latin typeface="Times New Roman" panose="02020603050405020304" pitchFamily="18" charset="0"/>
                <a:cs typeface="Times New Roman" panose="02020603050405020304" pitchFamily="18" charset="0"/>
              </a:rPr>
              <a:t>Compares prices of the same product from multiple stores.</a:t>
            </a:r>
          </a:p>
          <a:p>
            <a:r>
              <a:rPr lang="en-US" sz="2500" dirty="0">
                <a:latin typeface="Times New Roman" panose="02020603050405020304" pitchFamily="18" charset="0"/>
                <a:cs typeface="Times New Roman" panose="02020603050405020304" pitchFamily="18" charset="0"/>
              </a:rPr>
              <a:t>Helps users choose the store with the lowest price.</a:t>
            </a:r>
            <a:endParaRPr lang="en-US" sz="2500" b="1" dirty="0">
              <a:latin typeface="Times New Roman" panose="02020603050405020304" pitchFamily="18" charset="0"/>
              <a:cs typeface="Times New Roman" panose="02020603050405020304" pitchFamily="18" charset="0"/>
            </a:endParaRPr>
          </a:p>
          <a:p>
            <a:pPr marL="0" indent="0">
              <a:buNone/>
            </a:pPr>
            <a:r>
              <a:rPr lang="en-US" sz="2500" b="1" dirty="0">
                <a:latin typeface="Times New Roman" panose="02020603050405020304" pitchFamily="18" charset="0"/>
                <a:cs typeface="Times New Roman" panose="02020603050405020304" pitchFamily="18" charset="0"/>
              </a:rPr>
              <a:t>5. Cart Management Module</a:t>
            </a:r>
          </a:p>
          <a:p>
            <a:r>
              <a:rPr lang="en-US" sz="2500" dirty="0">
                <a:latin typeface="Times New Roman" panose="02020603050405020304" pitchFamily="18" charset="0"/>
                <a:cs typeface="Times New Roman" panose="02020603050405020304" pitchFamily="18" charset="0"/>
              </a:rPr>
              <a:t>Users can add or remove products from the cart.</a:t>
            </a:r>
          </a:p>
          <a:p>
            <a:r>
              <a:rPr lang="en-US" sz="2500" dirty="0">
                <a:latin typeface="Times New Roman" panose="02020603050405020304" pitchFamily="18" charset="0"/>
                <a:cs typeface="Times New Roman" panose="02020603050405020304" pitchFamily="18" charset="0"/>
              </a:rPr>
              <a:t>Shows total cost of selected items.</a:t>
            </a:r>
          </a:p>
          <a:p>
            <a:pPr marL="0" indent="0">
              <a:buNone/>
            </a:pPr>
            <a:r>
              <a:rPr lang="en-US" sz="2500" b="1" dirty="0">
                <a:latin typeface="Times New Roman" panose="02020603050405020304" pitchFamily="18" charset="0"/>
                <a:cs typeface="Times New Roman" panose="02020603050405020304" pitchFamily="18" charset="0"/>
              </a:rPr>
              <a:t>6. Order and Payment Module</a:t>
            </a:r>
          </a:p>
          <a:p>
            <a:r>
              <a:rPr lang="en-US" sz="2500" dirty="0">
                <a:latin typeface="Times New Roman" panose="02020603050405020304" pitchFamily="18" charset="0"/>
                <a:cs typeface="Times New Roman" panose="02020603050405020304" pitchFamily="18" charset="0"/>
              </a:rPr>
              <a:t>Allows users to place orders.</a:t>
            </a:r>
          </a:p>
          <a:p>
            <a:r>
              <a:rPr lang="en-US" sz="2500" dirty="0">
                <a:latin typeface="Times New Roman" panose="02020603050405020304" pitchFamily="18" charset="0"/>
                <a:cs typeface="Times New Roman" panose="02020603050405020304" pitchFamily="18" charset="0"/>
              </a:rPr>
              <a:t>Supports payment methods like UPI, card payment, and cash on delivery.</a:t>
            </a:r>
          </a:p>
          <a:p>
            <a:endParaRPr lang="en-IN" dirty="0"/>
          </a:p>
        </p:txBody>
      </p:sp>
      <p:sp>
        <p:nvSpPr>
          <p:cNvPr id="4" name="Date Placeholder 3">
            <a:extLst>
              <a:ext uri="{FF2B5EF4-FFF2-40B4-BE49-F238E27FC236}">
                <a16:creationId xmlns:a16="http://schemas.microsoft.com/office/drawing/2014/main" id="{B284F6EB-6363-DB84-136C-F65656046BB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5DB8719E-D4BF-A82A-4121-4A5A5928A8C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1535FD6E-9D16-9D78-0C5B-37AC495544CA}"/>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894995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838200" y="1493134"/>
            <a:ext cx="10515600" cy="5228341"/>
          </a:xfrm>
        </p:spPr>
        <p:txBody>
          <a:bodyPr>
            <a:noAutofit/>
          </a:bodyPr>
          <a:lstStyle/>
          <a:p>
            <a:r>
              <a:rPr lang="en-US" sz="2500" dirty="0">
                <a:latin typeface="Times New Roman" panose="02020603050405020304" pitchFamily="18" charset="0"/>
                <a:cs typeface="Times New Roman" panose="02020603050405020304" pitchFamily="18" charset="0"/>
              </a:rPr>
              <a:t>To develop a platform that allows users to compare grocery prices from multiple nearby stores.</a:t>
            </a:r>
          </a:p>
          <a:p>
            <a:r>
              <a:rPr lang="en-US" sz="2500" dirty="0">
                <a:latin typeface="Times New Roman" panose="02020603050405020304" pitchFamily="18" charset="0"/>
                <a:cs typeface="Times New Roman" panose="02020603050405020304" pitchFamily="18" charset="0"/>
              </a:rPr>
              <a:t>To help customers find the best deals and save money on grocery purchases.</a:t>
            </a:r>
          </a:p>
          <a:p>
            <a:r>
              <a:rPr lang="en-US" sz="2500" dirty="0">
                <a:latin typeface="Times New Roman" panose="02020603050405020304" pitchFamily="18" charset="0"/>
                <a:cs typeface="Times New Roman" panose="02020603050405020304" pitchFamily="18" charset="0"/>
              </a:rPr>
              <a:t>To reduce the time and effort required for visiting different stores to check prices.</a:t>
            </a:r>
          </a:p>
          <a:p>
            <a:r>
              <a:rPr lang="en-US" sz="2500" dirty="0">
                <a:latin typeface="Times New Roman" panose="02020603050405020304" pitchFamily="18" charset="0"/>
                <a:cs typeface="Times New Roman" panose="02020603050405020304" pitchFamily="18" charset="0"/>
              </a:rPr>
              <a:t>To provide an easy and user-friendly interface for searching and selecting grocery items.</a:t>
            </a:r>
          </a:p>
          <a:p>
            <a:r>
              <a:rPr lang="en-US" sz="2500" dirty="0">
                <a:latin typeface="Times New Roman" panose="02020603050405020304" pitchFamily="18" charset="0"/>
                <a:cs typeface="Times New Roman" panose="02020603050405020304" pitchFamily="18" charset="0"/>
              </a:rPr>
              <a:t>To allow users to add products to a cart and calculate the total cost before purchasing.</a:t>
            </a:r>
          </a:p>
          <a:p>
            <a:r>
              <a:rPr lang="en-US" sz="2500" dirty="0">
                <a:latin typeface="Times New Roman" panose="02020603050405020304" pitchFamily="18" charset="0"/>
                <a:cs typeface="Times New Roman" panose="02020603050405020304" pitchFamily="18" charset="0"/>
              </a:rPr>
              <a:t>To support multiple payment options for convenient transactions.</a:t>
            </a:r>
          </a:p>
          <a:p>
            <a:r>
              <a:rPr lang="en-US" sz="2500" dirty="0">
                <a:latin typeface="Times New Roman" panose="02020603050405020304" pitchFamily="18" charset="0"/>
                <a:cs typeface="Times New Roman" panose="02020603050405020304" pitchFamily="18" charset="0"/>
              </a:rPr>
              <a:t>To improve the shopping experience by providing transparent price information.</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26398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555812" y="1391054"/>
            <a:ext cx="10797988" cy="4965295"/>
          </a:xfrm>
        </p:spPr>
        <p:txBody>
          <a:bodyPr>
            <a:normAutofit fontScale="70000" lnSpcReduction="20000"/>
          </a:bodyPr>
          <a:lstStyle/>
          <a:p>
            <a:pPr marL="0" indent="0">
              <a:buNone/>
            </a:pPr>
            <a:r>
              <a:rPr lang="en-IN" sz="3200" b="1" dirty="0">
                <a:latin typeface="Times New Roman" panose="02020603050405020304" pitchFamily="18" charset="0"/>
                <a:cs typeface="Times New Roman" panose="02020603050405020304" pitchFamily="18" charset="0"/>
              </a:rPr>
              <a:t>1. CO1</a:t>
            </a:r>
            <a:endParaRPr lang="en-IN" sz="3200" dirty="0">
              <a:latin typeface="Times New Roman" panose="02020603050405020304" pitchFamily="18" charset="0"/>
              <a:cs typeface="Times New Roman" panose="02020603050405020304" pitchFamily="18" charset="0"/>
            </a:endParaRPr>
          </a:p>
          <a:p>
            <a:r>
              <a:rPr lang="en-US" sz="3200" dirty="0"/>
              <a:t>Linear Search</a:t>
            </a:r>
          </a:p>
          <a:p>
            <a:r>
              <a:rPr lang="en-US" sz="3200" dirty="0"/>
              <a:t>Sorting Algorithms</a:t>
            </a:r>
          </a:p>
          <a:p>
            <a:r>
              <a:rPr lang="en-US" sz="3200" dirty="0"/>
              <a:t>Time Complexity</a:t>
            </a:r>
          </a:p>
          <a:p>
            <a:pPr marL="0" indent="0">
              <a:buNone/>
            </a:pPr>
            <a:r>
              <a:rPr lang="en-IN" sz="3200" b="1" dirty="0">
                <a:latin typeface="Times New Roman" panose="02020603050405020304" pitchFamily="18" charset="0"/>
                <a:cs typeface="Times New Roman" panose="02020603050405020304" pitchFamily="18" charset="0"/>
              </a:rPr>
              <a:t>2. CO2</a:t>
            </a:r>
            <a:endParaRPr lang="en-IN" sz="3200" dirty="0">
              <a:latin typeface="Times New Roman" panose="02020603050405020304" pitchFamily="18" charset="0"/>
              <a:cs typeface="Times New Roman" panose="02020603050405020304" pitchFamily="18" charset="0"/>
            </a:endParaRPr>
          </a:p>
          <a:p>
            <a:r>
              <a:rPr lang="en-US" sz="3200" dirty="0"/>
              <a:t>Singly Linked List</a:t>
            </a:r>
          </a:p>
          <a:p>
            <a:r>
              <a:rPr lang="en-US" sz="3200" dirty="0"/>
              <a:t>Dynamic Storage</a:t>
            </a:r>
          </a:p>
          <a:p>
            <a:r>
              <a:rPr lang="en-US" sz="3200" dirty="0"/>
              <a:t>Traversal</a:t>
            </a:r>
          </a:p>
          <a:p>
            <a:r>
              <a:rPr lang="en-US" sz="3200" dirty="0"/>
              <a:t>Node Management</a:t>
            </a:r>
          </a:p>
          <a:p>
            <a:pPr marL="0" indent="0">
              <a:buNone/>
            </a:pPr>
            <a:r>
              <a:rPr lang="en-IN" sz="3200" b="1" dirty="0">
                <a:latin typeface="Times New Roman" panose="02020603050405020304" pitchFamily="18" charset="0"/>
                <a:cs typeface="Times New Roman" panose="02020603050405020304" pitchFamily="18" charset="0"/>
              </a:rPr>
              <a:t>3. CO3</a:t>
            </a:r>
            <a:endParaRPr lang="en-IN" sz="3200" dirty="0">
              <a:latin typeface="Times New Roman" panose="02020603050405020304" pitchFamily="18" charset="0"/>
              <a:cs typeface="Times New Roman" panose="02020603050405020304" pitchFamily="18" charset="0"/>
            </a:endParaRPr>
          </a:p>
          <a:p>
            <a:r>
              <a:rPr lang="en-US" sz="3200" dirty="0"/>
              <a:t>Stack</a:t>
            </a:r>
          </a:p>
          <a:p>
            <a:r>
              <a:rPr lang="en-US" sz="3200" dirty="0"/>
              <a:t>Priority Queue</a:t>
            </a:r>
          </a:p>
          <a:p>
            <a:r>
              <a:rPr lang="en-US" sz="3200" dirty="0"/>
              <a:t>Prioritized Processing</a:t>
            </a:r>
          </a:p>
          <a:p>
            <a:pPr marL="457200" lvl="1" indent="0">
              <a:buNone/>
            </a:pPr>
            <a:endParaRPr lang="en-IN" dirty="0"/>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1906946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E9D3C-97B2-8915-DACE-AABB323D46AD}"/>
              </a:ext>
            </a:extLst>
          </p:cNvPr>
          <p:cNvSpPr>
            <a:spLocks noGrp="1"/>
          </p:cNvSpPr>
          <p:nvPr>
            <p:ph type="title"/>
          </p:nvPr>
        </p:nvSpPr>
        <p:spPr/>
        <p:txBody>
          <a:bodyPr/>
          <a:lstStyle/>
          <a:p>
            <a:br>
              <a:rPr lang="en-IN" dirty="0"/>
            </a:br>
            <a:endParaRPr lang="en-IN" dirty="0"/>
          </a:p>
        </p:txBody>
      </p:sp>
      <p:sp>
        <p:nvSpPr>
          <p:cNvPr id="3" name="Content Placeholder 2">
            <a:extLst>
              <a:ext uri="{FF2B5EF4-FFF2-40B4-BE49-F238E27FC236}">
                <a16:creationId xmlns:a16="http://schemas.microsoft.com/office/drawing/2014/main" id="{1AD54138-A553-A8EB-D4A2-5A5E2CCECFCB}"/>
              </a:ext>
            </a:extLst>
          </p:cNvPr>
          <p:cNvSpPr>
            <a:spLocks noGrp="1"/>
          </p:cNvSpPr>
          <p:nvPr>
            <p:ph idx="1"/>
          </p:nvPr>
        </p:nvSpPr>
        <p:spPr>
          <a:xfrm>
            <a:off x="838200" y="1039906"/>
            <a:ext cx="10515600" cy="5137057"/>
          </a:xfrm>
        </p:spPr>
        <p:txBody>
          <a:bodyPr/>
          <a:lstStyle/>
          <a:p>
            <a:pPr marL="0" indent="0">
              <a:buNone/>
            </a:pPr>
            <a:r>
              <a:rPr lang="en-US" sz="2500" b="1" dirty="0">
                <a:latin typeface="Times New Roman" panose="02020603050405020304" pitchFamily="18" charset="0"/>
                <a:cs typeface="Times New Roman" panose="02020603050405020304" pitchFamily="18" charset="0"/>
              </a:rPr>
              <a:t>4</a:t>
            </a:r>
            <a:r>
              <a:rPr lang="en-US" sz="2400" b="1" dirty="0">
                <a:latin typeface="Times New Roman" panose="02020603050405020304" pitchFamily="18" charset="0"/>
                <a:cs typeface="Times New Roman" panose="02020603050405020304" pitchFamily="18" charset="0"/>
              </a:rPr>
              <a:t>. CO4</a:t>
            </a:r>
            <a:endParaRPr lang="en-US" sz="2400" dirty="0">
              <a:latin typeface="Times New Roman" panose="02020603050405020304" pitchFamily="18" charset="0"/>
              <a:cs typeface="Times New Roman" panose="02020603050405020304" pitchFamily="18" charset="0"/>
            </a:endParaRPr>
          </a:p>
          <a:p>
            <a:r>
              <a:rPr lang="en-US" sz="2400" dirty="0"/>
              <a:t>Product Database</a:t>
            </a:r>
          </a:p>
          <a:p>
            <a:r>
              <a:rPr lang="en-US" sz="2400" dirty="0"/>
              <a:t>Java Collections</a:t>
            </a:r>
          </a:p>
          <a:p>
            <a:r>
              <a:rPr lang="en-US" sz="2400" dirty="0"/>
              <a:t>Nested Mapping(Tree Map, HashMap)</a:t>
            </a:r>
          </a:p>
          <a:p>
            <a:pPr marL="0" indent="0">
              <a:buNone/>
            </a:pPr>
            <a:r>
              <a:rPr lang="en-US" sz="2400" b="1" dirty="0">
                <a:latin typeface="Times New Roman" panose="02020603050405020304" pitchFamily="18" charset="0"/>
                <a:cs typeface="Times New Roman" panose="02020603050405020304" pitchFamily="18" charset="0"/>
              </a:rPr>
              <a:t>5. CO5</a:t>
            </a:r>
            <a:endParaRPr lang="en-US" sz="2400" dirty="0">
              <a:latin typeface="Times New Roman" panose="02020603050405020304" pitchFamily="18" charset="0"/>
              <a:cs typeface="Times New Roman" panose="02020603050405020304" pitchFamily="18" charset="0"/>
            </a:endParaRPr>
          </a:p>
          <a:p>
            <a:r>
              <a:rPr lang="sv-SE" sz="2400" dirty="0"/>
              <a:t>Data Integrity</a:t>
            </a:r>
          </a:p>
          <a:p>
            <a:r>
              <a:rPr lang="sv-SE" sz="2400" dirty="0"/>
              <a:t>System Integration</a:t>
            </a:r>
          </a:p>
          <a:p>
            <a:r>
              <a:rPr lang="sv-SE" sz="2400" dirty="0"/>
              <a:t>Safe Input Handling</a:t>
            </a:r>
          </a:p>
          <a:p>
            <a:endParaRPr lang="en-IN" dirty="0"/>
          </a:p>
        </p:txBody>
      </p:sp>
      <p:sp>
        <p:nvSpPr>
          <p:cNvPr id="4" name="Date Placeholder 3">
            <a:extLst>
              <a:ext uri="{FF2B5EF4-FFF2-40B4-BE49-F238E27FC236}">
                <a16:creationId xmlns:a16="http://schemas.microsoft.com/office/drawing/2014/main" id="{F7E3E3FF-DAFF-12E4-D3DA-1CC9A6C22599}"/>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231D6B2B-1F08-A948-6194-20430F434C3C}"/>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E30A443F-E6BF-1F38-D521-B62D456A1682}"/>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2131908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DSA</a:t>
            </a:r>
          </a:p>
        </p:txBody>
      </p:sp>
      <p:sp>
        <p:nvSpPr>
          <p:cNvPr id="3" name="Content Placeholder 2">
            <a:extLst>
              <a:ext uri="{FF2B5EF4-FFF2-40B4-BE49-F238E27FC236}">
                <a16:creationId xmlns:a16="http://schemas.microsoft.com/office/drawing/2014/main" id="{D408550D-1730-34EA-8ABA-9BB036DE20DE}"/>
              </a:ext>
            </a:extLst>
          </p:cNvPr>
          <p:cNvSpPr>
            <a:spLocks noGrp="1"/>
          </p:cNvSpPr>
          <p:nvPr>
            <p:ph idx="1"/>
          </p:nvPr>
        </p:nvSpPr>
        <p:spPr/>
        <p:txBody>
          <a:bodyPr>
            <a:normAutofit/>
          </a:bodyPr>
          <a:lstStyle/>
          <a:p>
            <a:pPr marL="0" marR="0" lvl="0" indent="0" algn="just">
              <a:spcBef>
                <a:spcPts val="0"/>
              </a:spcBef>
              <a:spcAft>
                <a:spcPts val="0"/>
              </a:spcAft>
              <a:buNone/>
              <a:tabLst>
                <a:tab pos="228600" algn="l"/>
                <a:tab pos="228600" algn="l"/>
                <a:tab pos="282575" algn="l"/>
                <a:tab pos="339725" algn="l"/>
              </a:tabLst>
            </a:pPr>
            <a:endParaRPr lang="en-US" dirty="0"/>
          </a:p>
          <a:p>
            <a:pPr marL="0" marR="0" lvl="0" indent="0" algn="just">
              <a:spcBef>
                <a:spcPts val="0"/>
              </a:spcBef>
              <a:spcAft>
                <a:spcPts val="0"/>
              </a:spcAft>
              <a:buNone/>
              <a:tabLst>
                <a:tab pos="228600" algn="l"/>
                <a:tab pos="228600" algn="l"/>
                <a:tab pos="282575" algn="l"/>
                <a:tab pos="339725" algn="l"/>
              </a:tabLst>
            </a:pPr>
            <a:endParaRPr lang="en-US" dirty="0"/>
          </a:p>
          <a:p>
            <a:pPr marL="0" marR="0" lvl="0" indent="0" algn="just">
              <a:spcBef>
                <a:spcPts val="0"/>
              </a:spcBef>
              <a:spcAft>
                <a:spcPts val="0"/>
              </a:spcAft>
              <a:buNone/>
              <a:tabLst>
                <a:tab pos="228600" algn="l"/>
                <a:tab pos="228600" algn="l"/>
                <a:tab pos="282575" algn="l"/>
                <a:tab pos="339725" algn="l"/>
              </a:tabLst>
            </a:pPr>
            <a:endParaRPr lang="en-US" dirty="0"/>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9" name="Picture 8">
            <a:extLst>
              <a:ext uri="{FF2B5EF4-FFF2-40B4-BE49-F238E27FC236}">
                <a16:creationId xmlns:a16="http://schemas.microsoft.com/office/drawing/2014/main" id="{4BD8C5C3-6157-888B-6C47-E1F75A431209}"/>
              </a:ext>
            </a:extLst>
          </p:cNvPr>
          <p:cNvPicPr>
            <a:picLocks noChangeAspect="1"/>
          </p:cNvPicPr>
          <p:nvPr/>
        </p:nvPicPr>
        <p:blipFill>
          <a:blip r:embed="rId2"/>
          <a:stretch>
            <a:fillRect/>
          </a:stretch>
        </p:blipFill>
        <p:spPr>
          <a:xfrm>
            <a:off x="349083" y="1646239"/>
            <a:ext cx="4035040" cy="3947165"/>
          </a:xfrm>
          <a:prstGeom prst="rect">
            <a:avLst/>
          </a:prstGeom>
        </p:spPr>
      </p:pic>
      <p:pic>
        <p:nvPicPr>
          <p:cNvPr id="12" name="Picture 11">
            <a:extLst>
              <a:ext uri="{FF2B5EF4-FFF2-40B4-BE49-F238E27FC236}">
                <a16:creationId xmlns:a16="http://schemas.microsoft.com/office/drawing/2014/main" id="{66130932-B691-E71B-3EDA-A8A115CC9DE7}"/>
              </a:ext>
            </a:extLst>
          </p:cNvPr>
          <p:cNvPicPr>
            <a:picLocks noChangeAspect="1"/>
          </p:cNvPicPr>
          <p:nvPr/>
        </p:nvPicPr>
        <p:blipFill>
          <a:blip r:embed="rId3"/>
          <a:stretch>
            <a:fillRect/>
          </a:stretch>
        </p:blipFill>
        <p:spPr>
          <a:xfrm>
            <a:off x="5982511" y="432543"/>
            <a:ext cx="4727642" cy="6060332"/>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2A2B3-78A0-70B9-7BBA-A4BB2CB0D01E}"/>
              </a:ext>
            </a:extLst>
          </p:cNvPr>
          <p:cNvSpPr>
            <a:spLocks noGrp="1"/>
          </p:cNvSpPr>
          <p:nvPr>
            <p:ph type="title"/>
          </p:nvPr>
        </p:nvSpPr>
        <p:spPr/>
        <p:txBody>
          <a:bodyPr/>
          <a:lstStyle/>
          <a:p>
            <a:br>
              <a:rPr lang="en-IN" dirty="0"/>
            </a:br>
            <a:endParaRPr lang="en-IN" dirty="0"/>
          </a:p>
        </p:txBody>
      </p:sp>
      <p:pic>
        <p:nvPicPr>
          <p:cNvPr id="8" name="Content Placeholder 7">
            <a:extLst>
              <a:ext uri="{FF2B5EF4-FFF2-40B4-BE49-F238E27FC236}">
                <a16:creationId xmlns:a16="http://schemas.microsoft.com/office/drawing/2014/main" id="{0DA3FEA8-A0D9-F8E6-B21F-905C59CC857D}"/>
              </a:ext>
            </a:extLst>
          </p:cNvPr>
          <p:cNvPicPr>
            <a:picLocks noGrp="1" noChangeAspect="1"/>
          </p:cNvPicPr>
          <p:nvPr>
            <p:ph idx="1"/>
          </p:nvPr>
        </p:nvPicPr>
        <p:blipFill>
          <a:blip r:embed="rId2"/>
          <a:stretch>
            <a:fillRect/>
          </a:stretch>
        </p:blipFill>
        <p:spPr>
          <a:xfrm>
            <a:off x="253652" y="1253331"/>
            <a:ext cx="3627684" cy="4351338"/>
          </a:xfrm>
          <a:prstGeom prst="rect">
            <a:avLst/>
          </a:prstGeom>
        </p:spPr>
      </p:pic>
      <p:sp>
        <p:nvSpPr>
          <p:cNvPr id="4" name="Date Placeholder 3">
            <a:extLst>
              <a:ext uri="{FF2B5EF4-FFF2-40B4-BE49-F238E27FC236}">
                <a16:creationId xmlns:a16="http://schemas.microsoft.com/office/drawing/2014/main" id="{948274C7-9F7C-E24A-FDDE-D3D788EC81B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27C1566D-C32A-E90C-DDC2-3EE8FD2F573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DE7999F5-0B0A-ED7C-BF06-925FD76506F4}"/>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10" name="Picture 9">
            <a:extLst>
              <a:ext uri="{FF2B5EF4-FFF2-40B4-BE49-F238E27FC236}">
                <a16:creationId xmlns:a16="http://schemas.microsoft.com/office/drawing/2014/main" id="{C40B556A-BA2A-51C2-39EF-4C17DAF79D20}"/>
              </a:ext>
            </a:extLst>
          </p:cNvPr>
          <p:cNvPicPr>
            <a:picLocks noChangeAspect="1"/>
          </p:cNvPicPr>
          <p:nvPr/>
        </p:nvPicPr>
        <p:blipFill>
          <a:blip r:embed="rId3"/>
          <a:stretch>
            <a:fillRect/>
          </a:stretch>
        </p:blipFill>
        <p:spPr>
          <a:xfrm>
            <a:off x="5476672" y="136525"/>
            <a:ext cx="4685495" cy="6356350"/>
          </a:xfrm>
          <a:prstGeom prst="rect">
            <a:avLst/>
          </a:prstGeom>
        </p:spPr>
      </p:pic>
    </p:spTree>
    <p:extLst>
      <p:ext uri="{BB962C8B-B14F-4D97-AF65-F5344CB8AC3E}">
        <p14:creationId xmlns:p14="http://schemas.microsoft.com/office/powerpoint/2010/main" val="71712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BDF90-EA36-5E92-11A7-CFC86D0C9D68}"/>
              </a:ext>
            </a:extLst>
          </p:cNvPr>
          <p:cNvSpPr>
            <a:spLocks noGrp="1"/>
          </p:cNvSpPr>
          <p:nvPr>
            <p:ph type="title"/>
          </p:nvPr>
        </p:nvSpPr>
        <p:spPr/>
        <p:txBody>
          <a:bodyPr>
            <a:normAutofit/>
          </a:bodyPr>
          <a:lstStyle/>
          <a:p>
            <a:br>
              <a:rPr lang="en-IN" dirty="0"/>
            </a:br>
            <a:endParaRPr lang="en-IN" dirty="0"/>
          </a:p>
        </p:txBody>
      </p:sp>
      <p:pic>
        <p:nvPicPr>
          <p:cNvPr id="8" name="Content Placeholder 7">
            <a:extLst>
              <a:ext uri="{FF2B5EF4-FFF2-40B4-BE49-F238E27FC236}">
                <a16:creationId xmlns:a16="http://schemas.microsoft.com/office/drawing/2014/main" id="{4ED15AEE-8E02-1680-BB27-64D8B80FE509}"/>
              </a:ext>
            </a:extLst>
          </p:cNvPr>
          <p:cNvPicPr>
            <a:picLocks noGrp="1" noChangeAspect="1"/>
          </p:cNvPicPr>
          <p:nvPr>
            <p:ph idx="1"/>
          </p:nvPr>
        </p:nvPicPr>
        <p:blipFill>
          <a:blip r:embed="rId2"/>
          <a:stretch>
            <a:fillRect/>
          </a:stretch>
        </p:blipFill>
        <p:spPr>
          <a:xfrm>
            <a:off x="397296" y="1347533"/>
            <a:ext cx="4612449" cy="3400900"/>
          </a:xfrm>
          <a:prstGeom prst="rect">
            <a:avLst/>
          </a:prstGeom>
        </p:spPr>
      </p:pic>
      <p:sp>
        <p:nvSpPr>
          <p:cNvPr id="4" name="Date Placeholder 3">
            <a:extLst>
              <a:ext uri="{FF2B5EF4-FFF2-40B4-BE49-F238E27FC236}">
                <a16:creationId xmlns:a16="http://schemas.microsoft.com/office/drawing/2014/main" id="{0FDB382C-98D7-415B-D8DE-260B29B906CF}"/>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6133F216-320E-A575-B4F0-497E40F791E3}"/>
              </a:ext>
            </a:extLst>
          </p:cNvPr>
          <p:cNvSpPr>
            <a:spLocks noGrp="1"/>
          </p:cNvSpPr>
          <p:nvPr>
            <p:ph type="ftr" sz="quarter" idx="11"/>
          </p:nvPr>
        </p:nvSpPr>
        <p:spPr/>
        <p:txBody>
          <a:bodyPr/>
          <a:lstStyle/>
          <a:p>
            <a:r>
              <a:rPr lang="en-US" dirty="0"/>
              <a:t>0th REVIEW         173030211           Department of CSE</a:t>
            </a:r>
          </a:p>
        </p:txBody>
      </p:sp>
      <p:sp>
        <p:nvSpPr>
          <p:cNvPr id="6" name="Slide Number Placeholder 5">
            <a:extLst>
              <a:ext uri="{FF2B5EF4-FFF2-40B4-BE49-F238E27FC236}">
                <a16:creationId xmlns:a16="http://schemas.microsoft.com/office/drawing/2014/main" id="{F126FA7C-3EA2-633A-1F3B-6587B9D2D977}"/>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10" name="Picture 9">
            <a:extLst>
              <a:ext uri="{FF2B5EF4-FFF2-40B4-BE49-F238E27FC236}">
                <a16:creationId xmlns:a16="http://schemas.microsoft.com/office/drawing/2014/main" id="{46207120-9D20-01C7-7621-95EC1AE5B571}"/>
              </a:ext>
            </a:extLst>
          </p:cNvPr>
          <p:cNvPicPr>
            <a:picLocks noChangeAspect="1"/>
          </p:cNvPicPr>
          <p:nvPr/>
        </p:nvPicPr>
        <p:blipFill>
          <a:blip r:embed="rId3"/>
          <a:stretch>
            <a:fillRect/>
          </a:stretch>
        </p:blipFill>
        <p:spPr>
          <a:xfrm>
            <a:off x="5876927" y="365125"/>
            <a:ext cx="4552945" cy="5753574"/>
          </a:xfrm>
          <a:prstGeom prst="rect">
            <a:avLst/>
          </a:prstGeom>
        </p:spPr>
      </p:pic>
    </p:spTree>
    <p:extLst>
      <p:ext uri="{BB962C8B-B14F-4D97-AF65-F5344CB8AC3E}">
        <p14:creationId xmlns:p14="http://schemas.microsoft.com/office/powerpoint/2010/main" val="2856458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a:xfrm>
            <a:off x="304800" y="1493134"/>
            <a:ext cx="11049000" cy="4863216"/>
          </a:xfrm>
        </p:spPr>
        <p:txBody>
          <a:bodyPr>
            <a:normAutofit/>
          </a:bodyPr>
          <a:lstStyle/>
          <a:p>
            <a:r>
              <a:rPr lang="en-US" sz="2500" dirty="0">
                <a:latin typeface="Times New Roman" panose="02020603050405020304" pitchFamily="18" charset="0"/>
                <a:cs typeface="Times New Roman" panose="02020603050405020304" pitchFamily="18" charset="0"/>
              </a:rPr>
              <a:t>The </a:t>
            </a:r>
            <a:r>
              <a:rPr lang="en-US" sz="2500" b="1" dirty="0">
                <a:latin typeface="Times New Roman" panose="02020603050405020304" pitchFamily="18" charset="0"/>
                <a:cs typeface="Times New Roman" panose="02020603050405020304" pitchFamily="18" charset="0"/>
              </a:rPr>
              <a:t>Grocery Compare system</a:t>
            </a:r>
            <a:r>
              <a:rPr lang="en-US" sz="2500" dirty="0">
                <a:latin typeface="Times New Roman" panose="02020603050405020304" pitchFamily="18" charset="0"/>
                <a:cs typeface="Times New Roman" panose="02020603050405020304" pitchFamily="18" charset="0"/>
              </a:rPr>
              <a:t> is designed to make grocery shopping easier and more convenient for customers. It allows users to compare the prices of grocery products from multiple stores in one place, helping them choose the best and most affordable options. This system reduces the time and effort required to visit different stores and manually check prices.</a:t>
            </a:r>
          </a:p>
          <a:p>
            <a:r>
              <a:rPr lang="en-US" sz="2500" dirty="0">
                <a:latin typeface="Times New Roman" panose="02020603050405020304" pitchFamily="18" charset="0"/>
                <a:cs typeface="Times New Roman" panose="02020603050405020304" pitchFamily="18" charset="0"/>
              </a:rPr>
              <a:t>By providing features such as product search, price comparison, and cart management, the system improves the overall shopping experience. The project demonstrates how technology can simplify daily activities and help customers save both time and money while making smarter purchasing decisions.</a:t>
            </a:r>
          </a:p>
          <a:p>
            <a:pPr marL="0" indent="0">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16</a:t>
            </a:fld>
            <a:endParaRPr lang="en-US"/>
          </a:p>
        </p:txBody>
      </p:sp>
    </p:spTree>
    <p:extLst>
      <p:ext uri="{BB962C8B-B14F-4D97-AF65-F5344CB8AC3E}">
        <p14:creationId xmlns:p14="http://schemas.microsoft.com/office/powerpoint/2010/main" val="2858912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10" name="Content Placeholder 9">
            <a:extLst>
              <a:ext uri="{FF2B5EF4-FFF2-40B4-BE49-F238E27FC236}">
                <a16:creationId xmlns:a16="http://schemas.microsoft.com/office/drawing/2014/main" id="{C3E8D779-3258-5C16-7369-FAD896E03C99}"/>
              </a:ext>
            </a:extLst>
          </p:cNvPr>
          <p:cNvPicPr>
            <a:picLocks noGrp="1" noChangeAspect="1"/>
          </p:cNvPicPr>
          <p:nvPr>
            <p:ph idx="1"/>
          </p:nvPr>
        </p:nvPicPr>
        <p:blipFill>
          <a:blip r:embed="rId2"/>
          <a:stretch>
            <a:fillRect/>
          </a:stretch>
        </p:blipFill>
        <p:spPr>
          <a:xfrm>
            <a:off x="693096" y="1517514"/>
            <a:ext cx="4384741" cy="4591455"/>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17</a:t>
            </a:fld>
            <a:endParaRPr lang="en-US"/>
          </a:p>
        </p:txBody>
      </p:sp>
      <p:pic>
        <p:nvPicPr>
          <p:cNvPr id="14" name="Picture 13">
            <a:extLst>
              <a:ext uri="{FF2B5EF4-FFF2-40B4-BE49-F238E27FC236}">
                <a16:creationId xmlns:a16="http://schemas.microsoft.com/office/drawing/2014/main" id="{1CD3E85F-A805-7077-BA25-4E5B975F4FD4}"/>
              </a:ext>
            </a:extLst>
          </p:cNvPr>
          <p:cNvPicPr>
            <a:picLocks noChangeAspect="1"/>
          </p:cNvPicPr>
          <p:nvPr/>
        </p:nvPicPr>
        <p:blipFill>
          <a:blip r:embed="rId3"/>
          <a:stretch>
            <a:fillRect/>
          </a:stretch>
        </p:blipFill>
        <p:spPr>
          <a:xfrm>
            <a:off x="5836597" y="3402667"/>
            <a:ext cx="4935166" cy="3318808"/>
          </a:xfrm>
          <a:prstGeom prst="rect">
            <a:avLst/>
          </a:prstGeom>
        </p:spPr>
      </p:pic>
      <p:pic>
        <p:nvPicPr>
          <p:cNvPr id="16" name="Picture 15">
            <a:extLst>
              <a:ext uri="{FF2B5EF4-FFF2-40B4-BE49-F238E27FC236}">
                <a16:creationId xmlns:a16="http://schemas.microsoft.com/office/drawing/2014/main" id="{B493E87D-A36A-B2FB-ED19-632332413856}"/>
              </a:ext>
            </a:extLst>
          </p:cNvPr>
          <p:cNvPicPr>
            <a:picLocks noChangeAspect="1"/>
          </p:cNvPicPr>
          <p:nvPr/>
        </p:nvPicPr>
        <p:blipFill>
          <a:blip r:embed="rId4"/>
          <a:stretch>
            <a:fillRect/>
          </a:stretch>
        </p:blipFill>
        <p:spPr>
          <a:xfrm>
            <a:off x="5836597" y="241898"/>
            <a:ext cx="4908039" cy="3016868"/>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18</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4077</TotalTime>
  <Words>978</Words>
  <Application>Microsoft Office PowerPoint</Application>
  <PresentationFormat>Widescreen</PresentationFormat>
  <Paragraphs>165</Paragraphs>
  <Slides>18</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Arial</vt:lpstr>
      <vt:lpstr>Calibri</vt:lpstr>
      <vt:lpstr>Calibri Light</vt:lpstr>
      <vt:lpstr>Times New Roman</vt:lpstr>
      <vt:lpstr>Office Theme</vt:lpstr>
      <vt:lpstr>Custom Design</vt:lpstr>
      <vt:lpstr>TITLE:MULTI - STORE GROCERY PRICE COMPARISION SYSTEM </vt:lpstr>
      <vt:lpstr>OUTLINE</vt:lpstr>
      <vt:lpstr>Abstract</vt:lpstr>
      <vt:lpstr> </vt:lpstr>
      <vt:lpstr>Existing System </vt:lpstr>
      <vt:lpstr>Proposed System</vt:lpstr>
      <vt:lpstr> </vt:lpstr>
      <vt:lpstr>Project Modules</vt:lpstr>
      <vt:lpstr>     </vt:lpstr>
      <vt:lpstr>Objectives</vt:lpstr>
      <vt:lpstr>Co’s Attainments - FWD</vt:lpstr>
      <vt:lpstr> </vt:lpstr>
      <vt:lpstr>Screenshots for DSA</vt:lpstr>
      <vt:lpstr> </vt:lpstr>
      <vt:lpstr> </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Shreenitha Devuni</cp:lastModifiedBy>
  <cp:revision>61</cp:revision>
  <dcterms:created xsi:type="dcterms:W3CDTF">2022-05-20T10:20:31Z</dcterms:created>
  <dcterms:modified xsi:type="dcterms:W3CDTF">2026-03-12T03:33:54Z</dcterms:modified>
</cp:coreProperties>
</file>